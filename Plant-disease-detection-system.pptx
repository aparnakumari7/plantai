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0" r:id="rId1"/>
  </p:sldMasterIdLst>
  <p:notesMasterIdLst>
    <p:notesMasterId r:id="rId19"/>
  </p:notesMasterIdLst>
  <p:sldIdLst>
    <p:sldId id="256" r:id="rId2"/>
    <p:sldId id="271" r:id="rId3"/>
    <p:sldId id="258" r:id="rId4"/>
    <p:sldId id="279" r:id="rId5"/>
    <p:sldId id="273" r:id="rId6"/>
    <p:sldId id="274" r:id="rId7"/>
    <p:sldId id="275" r:id="rId8"/>
    <p:sldId id="261" r:id="rId9"/>
    <p:sldId id="283" r:id="rId10"/>
    <p:sldId id="280" r:id="rId11"/>
    <p:sldId id="284" r:id="rId12"/>
    <p:sldId id="285" r:id="rId13"/>
    <p:sldId id="287" r:id="rId14"/>
    <p:sldId id="291" r:id="rId15"/>
    <p:sldId id="289" r:id="rId16"/>
    <p:sldId id="290" r:id="rId17"/>
    <p:sldId id="268" r:id="rId18"/>
  </p:sldIdLst>
  <p:sldSz cx="12192000" cy="6858000"/>
  <p:notesSz cx="6705600" cy="89916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512" y="3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05760" cy="451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79" tIns="44827" rIns="89679" bIns="44827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798288" y="0"/>
            <a:ext cx="2905760" cy="451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79" tIns="44827" rIns="89679" bIns="44827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55638" y="1123950"/>
            <a:ext cx="5394325" cy="303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0560" y="4327207"/>
            <a:ext cx="5364480" cy="354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79" tIns="44827" rIns="89679" bIns="44827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540460"/>
            <a:ext cx="2905760" cy="451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79" tIns="44827" rIns="89679" bIns="44827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798288" y="8540460"/>
            <a:ext cx="2905760" cy="451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79" tIns="44827" rIns="89679" bIns="44827" anchor="b" anchorCtr="0">
            <a:noAutofit/>
          </a:bodyPr>
          <a:lstStyle/>
          <a:p>
            <a:pPr algn="r">
              <a:buClr>
                <a:srgbClr val="000000"/>
              </a:buClr>
              <a:buSzPts val="1200"/>
            </a:pPr>
            <a:fld id="{00000000-1234-1234-1234-123412341234}" type="slidenum">
              <a:rPr lang="en-US" sz="1200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algn="r">
                <a:buClr>
                  <a:srgbClr val="000000"/>
                </a:buClr>
                <a:buSzPts val="1200"/>
              </a:pPr>
              <a:t>‹#›</a:t>
            </a:fld>
            <a:endParaRPr lang="en-US"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70560" y="4327207"/>
            <a:ext cx="5364480" cy="354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79" tIns="44827" rIns="89679" bIns="44827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55638" y="1123950"/>
            <a:ext cx="5394325" cy="303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7837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2669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58755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4939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3850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9551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02661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6417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08677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4432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355406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7533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819933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29922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8278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10707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49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391312" y="2270387"/>
            <a:ext cx="10772078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SMART PLANT DISEASE DETECTION</a:t>
            </a:r>
            <a:endParaRPr sz="36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50862" y="4124501"/>
            <a:ext cx="3607906" cy="156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Under the Guidance of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P. Rupa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Assistant Professor</a:t>
            </a:r>
            <a:endParaRPr sz="140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lvl="0" algn="ctr">
              <a:buClr>
                <a:srgbClr val="000000"/>
              </a:buClr>
              <a:buSzPts val="2400"/>
            </a:pPr>
            <a:endParaRPr sz="24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3B3715-3071-FD13-D32A-A450C942AC93}"/>
              </a:ext>
            </a:extLst>
          </p:cNvPr>
          <p:cNvSpPr txBox="1"/>
          <p:nvPr/>
        </p:nvSpPr>
        <p:spPr>
          <a:xfrm>
            <a:off x="5777351" y="3487213"/>
            <a:ext cx="661785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000000"/>
              </a:buClr>
              <a:buSzPts val="2400"/>
            </a:pPr>
            <a:endParaRPr lang="en-US" sz="24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buClr>
                <a:srgbClr val="000000"/>
              </a:buClr>
              <a:buSzPts val="2400"/>
            </a:pPr>
            <a:r>
              <a:rPr lang="en-US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Members</a:t>
            </a:r>
          </a:p>
          <a:p>
            <a:pPr algn="just">
              <a:buClr>
                <a:srgbClr val="000000"/>
              </a:buClr>
              <a:buSzPts val="2400"/>
            </a:pPr>
            <a:endParaRPr lang="en-US" sz="2400" b="1">
              <a:solidFill>
                <a:srgbClr val="000000"/>
              </a:solidFill>
              <a:ea typeface="Times New Roman" panose="02020603050405020304"/>
              <a:cs typeface="Arial" panose="020B0604020202020204"/>
              <a:sym typeface="Arial" panose="020B0604020202020204"/>
            </a:endParaRPr>
          </a:p>
          <a:p>
            <a:pPr algn="just">
              <a:buClr>
                <a:srgbClr val="000000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	N. Ashwitha          24UP5A0523</a:t>
            </a:r>
          </a:p>
          <a:p>
            <a:pPr lvl="0" algn="just">
              <a:buClr>
                <a:srgbClr val="000000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	P. Srinidhi             23UP1A05N2 </a:t>
            </a:r>
          </a:p>
          <a:p>
            <a:pPr lvl="0" algn="just">
              <a:buClr>
                <a:srgbClr val="000000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	Aparna Kumari    23UP1A05I7</a:t>
            </a:r>
          </a:p>
          <a:p>
            <a:pPr lvl="0" algn="just">
              <a:buClr>
                <a:srgbClr val="000000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	A. Navya Sree      23UP1A05I8</a:t>
            </a:r>
            <a:endParaRPr lang="en-US" sz="2400">
              <a:solidFill>
                <a:srgbClr val="000000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lvl="0" algn="just">
              <a:buClr>
                <a:srgbClr val="000000"/>
              </a:buClr>
              <a:buSzPts val="2400"/>
            </a:pPr>
            <a:r>
              <a:rPr lang="en-US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2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0" y="0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sz="60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361950" y="1179830"/>
            <a:ext cx="9449562" cy="526605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is essential to the global economy, but plant diseases reduce crop yield and quality. This project develops a Full Stack Plant Disease Detection System using Google Gemini AI to identify diseases from images, live camera input, and text symptoms.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 vision-enabled AI model to provide accurate diagnosis without retraining. It is built with React.js, Node.js, Express.js, and SQLite.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include secure authentication, user history tracking, and an admin dashboard for monitoring trends, helping farmers make timely and effective decisions.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23849"/>
            <a:ext cx="8596668" cy="425126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plant disease detection is an advanced approach that uses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modern web technologies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plant diseases at an early stage. Plant diseases can significantly reduce crop yield and impact farmers’ income if not detected in time.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analyzes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images, live camera input, and text symptoms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accurate disease diagnosis without manual inspection. It reduces dependency on agricultural experts, saves time, and improves efficiency.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this system supports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smart, accessible, and sustainable farming practices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1826933"/>
              </p:ext>
            </p:extLst>
          </p:nvPr>
        </p:nvGraphicFramePr>
        <p:xfrm>
          <a:off x="378373" y="1930400"/>
          <a:ext cx="11490354" cy="3288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9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9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27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886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53662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Used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/ Crop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4972"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Mohanty et al., 2016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Using Deep Learning for Image-Based Plant Disease Detection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CNN (</a:t>
                      </a:r>
                      <a:r>
                        <a:rPr sz="16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AlexNet</a:t>
                      </a:r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6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GoogLeNet</a:t>
                      </a:r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transfer learning)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PlantVillage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dataset (14 crops, 26 diseases, 54,306 images)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99.3%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ctr"/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 accuracy but requires high computation and controlled images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9511"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Jali </a:t>
                      </a:r>
                      <a:r>
                        <a:rPr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Suhaman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2023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Plant: A Mobile Application for Plant Disease Detection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Low-complexity CNN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Tomato leaf dataset (10 classes – Kaggle)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89% 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 for mobile use; limited to tomato plants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08014"/>
            <a:ext cx="8596668" cy="388077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plant disease detection systems include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sensors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While useful, they have limitations 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 on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datasets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need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retraining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Apps/IoT systems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predefined models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methods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need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lack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input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history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analytics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less suitable for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farming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686" y="451513"/>
            <a:ext cx="10854800" cy="1807845"/>
          </a:xfrm>
        </p:spPr>
        <p:txBody>
          <a:bodyPr>
            <a:normAutofit/>
          </a:bodyPr>
          <a:lstStyle/>
          <a:p>
            <a:r>
              <a:rPr lang="en-US" alt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" y="1558834"/>
            <a:ext cx="9819736" cy="456891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Plant Disease Detection System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modern web technologies.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input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image, camera, text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provides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disease detection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suggestions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includes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history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analytics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 access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suitable for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farming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2257"/>
            <a:ext cx="10515600" cy="1325563"/>
          </a:xfrm>
        </p:spPr>
        <p:txBody>
          <a:bodyPr/>
          <a:lstStyle/>
          <a:p>
            <a:r>
              <a:rPr lang="en-US" alt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77334" y="1153864"/>
            <a:ext cx="859666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Requirements: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 Core i3 (1.8 GHz+)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GB (8 GB recommended)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GB free space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1024 × 768 or higher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Optional (for image capture)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 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Requirements: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 Core i5/i7 (2.5 GHz+)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GB or higher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GB free space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1920 × 1080 or higher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61838"/>
            <a:ext cx="8596668" cy="38807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10+, Linux (Ubuntu 18.04+), macOS 10.14+ </a:t>
            </a: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React.js, Vite, React Router DOM, CSS </a:t>
            </a: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Node.js, Express.js, SQLite3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bcryptjs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 (gemini-2.5-flash)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150A7-887D-A2A8-060A-7A2AB0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794633"/>
            <a:ext cx="8596668" cy="1826581"/>
          </a:xfrm>
        </p:spPr>
        <p:txBody>
          <a:bodyPr>
            <a:normAutofit/>
          </a:bodyPr>
          <a:lstStyle/>
          <a:p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3F90C-2436-0675-437F-1B276D032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3498757"/>
            <a:ext cx="8596668" cy="860400"/>
          </a:xfrm>
        </p:spPr>
        <p:txBody>
          <a:bodyPr/>
          <a:lstStyle/>
          <a:p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SMART PLANT DISEASE DETECTION</a:t>
            </a:r>
            <a:endParaRPr lang="en-US" sz="24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B3156-3856-09C7-D7BA-02D5A02EA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38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FEC66-9039-8293-058A-BC83EBBE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AD566-4220-971E-9856-AC027F0FC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4E78717-AA7B-59B3-F251-DF9ACD76B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03389"/>
            <a:ext cx="9274930" cy="4183061"/>
          </a:xfrm>
        </p:spPr>
        <p:txBody>
          <a:bodyPr/>
          <a:lstStyle/>
          <a:p>
            <a:endParaRPr lang="en-IN"/>
          </a:p>
          <a:p>
            <a:pPr marL="0" indent="0">
              <a:buNone/>
            </a:pPr>
            <a:endParaRPr lang="en-IN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262F96B0-8097-E616-AE87-6A85A2C0F8C1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96159" y="1270000"/>
            <a:ext cx="7693571" cy="449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31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E8C2A-CCB9-8539-C990-7F0791E6A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30ADA-174A-72FC-5931-C88AD7339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A63D8EB-68EE-69C7-2265-CAA7C50C68E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706946" y="1459734"/>
            <a:ext cx="5798163" cy="502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080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3A358-829B-CA10-5341-9E4FA4EA9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920A0-4C17-89B4-47F3-344FF9659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3" name="Image 3">
            <a:extLst>
              <a:ext uri="{FF2B5EF4-FFF2-40B4-BE49-F238E27FC236}">
                <a16:creationId xmlns:a16="http://schemas.microsoft.com/office/drawing/2014/main" id="{49EE57D1-1774-EBD8-A5DC-5F9CB1DC63B5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62614" y="1213173"/>
            <a:ext cx="6826108" cy="482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107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EF2C8-4ABF-D0E9-5A57-E177D5F90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1E4A4-68A3-0707-0448-75930049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050E7DCA-259E-10AE-79E4-609A3E3C467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657867" y="1270000"/>
            <a:ext cx="5090885" cy="522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339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39FF0-7433-BCA2-AAC9-503DD8819E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0FE45-B51A-0972-C047-33998B7E6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866EBD-9D1B-1F6B-0759-CA8FAD02E85B}"/>
              </a:ext>
            </a:extLst>
          </p:cNvPr>
          <p:cNvSpPr txBox="1"/>
          <p:nvPr/>
        </p:nvSpPr>
        <p:spPr>
          <a:xfrm>
            <a:off x="1507067" y="4050836"/>
            <a:ext cx="6883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SMART PLANT DISEASE DETECTION</a:t>
            </a:r>
            <a:endParaRPr lang="en-US"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082534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8F3B7-38DE-7A8F-111C-AFC637497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pic>
        <p:nvPicPr>
          <p:cNvPr id="5" name="Content Placeholder 4" descr="1">
            <a:extLst>
              <a:ext uri="{FF2B5EF4-FFF2-40B4-BE49-F238E27FC236}">
                <a16:creationId xmlns:a16="http://schemas.microsoft.com/office/drawing/2014/main" id="{344DB46F-BD52-E2E5-0F7E-E33BF299C8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8496" y="860612"/>
            <a:ext cx="8465506" cy="454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272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A7210-491E-AC50-C165-55C70FFEF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5" name="Content Placeholder 4" descr="2">
            <a:extLst>
              <a:ext uri="{FF2B5EF4-FFF2-40B4-BE49-F238E27FC236}">
                <a16:creationId xmlns:a16="http://schemas.microsoft.com/office/drawing/2014/main" id="{CF0D438F-1B9A-A023-27ED-CBD2E2B2EE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2705" y="951764"/>
            <a:ext cx="8266471" cy="44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590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2652764" y="1914846"/>
            <a:ext cx="8015235" cy="159511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9600" i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Thank You!!!</a:t>
            </a:r>
            <a:endParaRPr lang="en-IN" sz="960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64*221"/>
  <p:tag name="TABLE_ENDDRAG_RECT" val="48*92*864*221"/>
</p:tagLst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914</TotalTime>
  <Words>664</Words>
  <Application>Microsoft Office PowerPoint</Application>
  <PresentationFormat>Widescreen</PresentationFormat>
  <Paragraphs>97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Times New Roman</vt:lpstr>
      <vt:lpstr>Trebuchet MS</vt:lpstr>
      <vt:lpstr>Wingdings 3</vt:lpstr>
      <vt:lpstr>Facet</vt:lpstr>
      <vt:lpstr>PowerPoint Presentation</vt:lpstr>
      <vt:lpstr>Abstract </vt:lpstr>
      <vt:lpstr>Introduction</vt:lpstr>
      <vt:lpstr>Literature Survey</vt:lpstr>
      <vt:lpstr>Existing System</vt:lpstr>
      <vt:lpstr>Proposed system</vt:lpstr>
      <vt:lpstr>Hardware Requirements</vt:lpstr>
      <vt:lpstr>Software Requirements</vt:lpstr>
      <vt:lpstr>UML DIAGRAMS</vt:lpstr>
      <vt:lpstr>System Architecture</vt:lpstr>
      <vt:lpstr>Use case Diagram</vt:lpstr>
      <vt:lpstr>Class Diagram</vt:lpstr>
      <vt:lpstr>Sequence Diagram</vt:lpstr>
      <vt:lpstr>RESULT</vt:lpstr>
      <vt:lpstr>PowerPoint Presentation</vt:lpstr>
      <vt:lpstr>PowerPoint Presentation</vt:lpstr>
      <vt:lpstr>Thank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narige ashwitha</dc:creator>
  <cp:lastModifiedBy>Aparna Kumari</cp:lastModifiedBy>
  <cp:revision>4</cp:revision>
  <dcterms:created xsi:type="dcterms:W3CDTF">2026-01-27T15:03:00Z</dcterms:created>
  <dcterms:modified xsi:type="dcterms:W3CDTF">2026-04-25T05:59:27Z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4A6323252415484087BB17ECEB701099_13</vt:lpwstr>
  </property>
  <property fmtid="{D5CDD505-2E9C-101B-9397-08002B2CF9AE}" pid="3" name="KSOProductBuildVer">
    <vt:lpwstr>1033-12.2.0.23196</vt:lpwstr>
  </property>
</Properties>
</file>